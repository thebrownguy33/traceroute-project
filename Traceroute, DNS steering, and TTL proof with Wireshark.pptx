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7d707c87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7d707c87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7d707c878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7d707c878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d707c878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d707c878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d707c878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d707c878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Pt_CoverArt1"/>
          <p:cNvPicPr preferRelativeResize="0"/>
          <p:nvPr/>
        </p:nvPicPr>
        <p:blipFill rotWithShape="1">
          <a:blip r:embed="rId2">
            <a:alphaModFix/>
          </a:blip>
          <a:srcRect r="50334"/>
          <a:stretch/>
        </p:blipFill>
        <p:spPr>
          <a:xfrm>
            <a:off x="0" y="1420416"/>
            <a:ext cx="5143501" cy="137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t="8875" b="8875"/>
          <a:stretch/>
        </p:blipFill>
        <p:spPr>
          <a:xfrm>
            <a:off x="6858000" y="290512"/>
            <a:ext cx="1478756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150" y="2003822"/>
            <a:ext cx="37686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150" y="3504010"/>
            <a:ext cx="41037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oto Sans Symbols"/>
              <a:buNone/>
              <a:defRPr sz="20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lvl="2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⮚"/>
              <a:defRPr/>
            </a:lvl1pPr>
            <a:lvl2pPr marL="914400" lvl="1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100" tIns="41050" rIns="82100" bIns="410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55638" y="1425178"/>
            <a:ext cx="38940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4064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800"/>
              <a:buChar char="⮚"/>
              <a:defRPr sz="2800"/>
            </a:lvl1pPr>
            <a:lvl2pPr marL="914400" lvl="1" indent="-381000" algn="l">
              <a:lnSpc>
                <a:spcPct val="95000"/>
              </a:lnSpc>
              <a:spcBef>
                <a:spcPts val="840"/>
              </a:spcBef>
              <a:spcAft>
                <a:spcPts val="0"/>
              </a:spcAft>
              <a:buSzPts val="2400"/>
              <a:buChar char="✔"/>
              <a:defRPr sz="2400"/>
            </a:lvl2pPr>
            <a:lvl3pPr marL="1371600" lvl="2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702175" y="1425178"/>
            <a:ext cx="38940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4064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800"/>
              <a:buChar char="⮚"/>
              <a:defRPr sz="2800"/>
            </a:lvl1pPr>
            <a:lvl2pPr marL="914400" lvl="1" indent="-381000" algn="l">
              <a:lnSpc>
                <a:spcPct val="95000"/>
              </a:lnSpc>
              <a:spcBef>
                <a:spcPts val="840"/>
              </a:spcBef>
              <a:spcAft>
                <a:spcPts val="0"/>
              </a:spcAft>
              <a:buSzPts val="2400"/>
              <a:buChar char="✔"/>
              <a:defRPr sz="2400"/>
            </a:lvl2pPr>
            <a:lvl3pPr marL="1371600" lvl="2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⮚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✔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⮚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✔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43180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3200"/>
              <a:buChar char="⮚"/>
              <a:defRPr sz="3200"/>
            </a:lvl1pPr>
            <a:lvl2pPr marL="914400" lvl="1" indent="-406400" algn="l">
              <a:lnSpc>
                <a:spcPct val="95000"/>
              </a:lnSpc>
              <a:spcBef>
                <a:spcPts val="980"/>
              </a:spcBef>
              <a:spcAft>
                <a:spcPts val="0"/>
              </a:spcAft>
              <a:buSzPts val="2800"/>
              <a:buChar char="✔"/>
              <a:defRPr sz="2800"/>
            </a:lvl2pPr>
            <a:lvl3pPr marL="1371600" lvl="2" indent="-381000" algn="l">
              <a:lnSpc>
                <a:spcPct val="95000"/>
              </a:lnSpc>
              <a:spcBef>
                <a:spcPts val="84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5000"/>
              </a:lnSpc>
              <a:spcBef>
                <a:spcPts val="42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5000"/>
              </a:lnSpc>
              <a:spcBef>
                <a:spcPts val="42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 rot="5400000">
            <a:off x="3286463" y="-1205671"/>
            <a:ext cx="2679000" cy="79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⮚"/>
              <a:defRPr/>
            </a:lvl1pPr>
            <a:lvl2pPr marL="914400" lvl="1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/>
          </p:nvPr>
        </p:nvSpPr>
        <p:spPr>
          <a:xfrm rot="5400000">
            <a:off x="5966550" y="1269647"/>
            <a:ext cx="3633900" cy="20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 rot="5400000">
            <a:off x="1817575" y="-691753"/>
            <a:ext cx="3633900" cy="59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⮚"/>
              <a:defRPr/>
            </a:lvl1pPr>
            <a:lvl2pPr marL="914400" lvl="1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81000" rtl="0">
              <a:spcBef>
                <a:spcPts val="1200"/>
              </a:spcBef>
              <a:spcAft>
                <a:spcPts val="0"/>
              </a:spcAft>
              <a:buSzPts val="2400"/>
              <a:buChar char="⮚"/>
              <a:defRPr/>
            </a:lvl1pPr>
            <a:lvl2pPr marL="914400" lvl="1" indent="-355600" rtl="0">
              <a:spcBef>
                <a:spcPts val="700"/>
              </a:spcBef>
              <a:spcAft>
                <a:spcPts val="0"/>
              </a:spcAft>
              <a:buSzPts val="2000"/>
              <a:buChar char="✔"/>
              <a:defRPr/>
            </a:lvl2pPr>
            <a:lvl3pPr marL="1371600" lvl="2" indent="-355600" rtl="0">
              <a:spcBef>
                <a:spcPts val="700"/>
              </a:spcBef>
              <a:spcAft>
                <a:spcPts val="0"/>
              </a:spcAft>
              <a:buSzPts val="2000"/>
              <a:buChar char="▪"/>
              <a:defRPr/>
            </a:lvl3pPr>
            <a:lvl4pPr marL="1828800" lvl="3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marR="0" lvl="0" indent="-3810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400"/>
              <a:buFont typeface="Noto Sans Symbols"/>
              <a:buChar char="⮚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708CA1"/>
              </a:buClr>
              <a:buSzPts val="2000"/>
              <a:buFont typeface="Noto Sans Symbols"/>
              <a:buChar char="✔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708CA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4">
            <a:alphaModFix/>
          </a:blip>
          <a:srcRect t="8895" b="8895"/>
          <a:stretch/>
        </p:blipFill>
        <p:spPr>
          <a:xfrm>
            <a:off x="133350" y="4750594"/>
            <a:ext cx="1100137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100" tIns="41050" rIns="82100" bIns="410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11150" y="2003822"/>
            <a:ext cx="3768600" cy="622800"/>
          </a:xfrm>
          <a:prstGeom prst="rect">
            <a:avLst/>
          </a:prstGeom>
        </p:spPr>
        <p:txBody>
          <a:bodyPr spcFirstLastPara="1" wrap="square" lIns="82100" tIns="41050" rIns="82100" bIns="41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Lab Traceroute, DNS steering, and TTL proof with Wireshark</a:t>
            </a:r>
            <a:endParaRPr sz="2100"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311150" y="3504010"/>
            <a:ext cx="4103700" cy="4941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Submission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1 dig output</a:t>
            </a:r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indent="0">
              <a:buNone/>
            </a:pPr>
            <a:r>
              <a:rPr lang="en-US" sz="1400" dirty="0"/>
              <a:t>What changed when the resolver changed, and why does Google return multiple A records? Changing the DNS resolver returned different sets of IP addresses. Google provides multiple A records because it uses load balancing and geo-based routing, so users are directed to nearby or less busy servers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3B497-EA0C-A7D2-7FD8-EFBEE8C56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972423"/>
            <a:ext cx="8520600" cy="27260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2 probe evidence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311700" y="11651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/>
              <a:t>The probe type shown is a UDP probe. The packets are identified as UDP in the protocol column and the filter “</a:t>
            </a:r>
            <a:r>
              <a:rPr lang="en-US" sz="1400" dirty="0" err="1"/>
              <a:t>ip.dst</a:t>
            </a:r>
            <a:r>
              <a:rPr lang="en-US" sz="1400" dirty="0"/>
              <a:t> ==  104.18.4.215  &amp;&amp; </a:t>
            </a:r>
            <a:r>
              <a:rPr lang="en-US" sz="1400" dirty="0" err="1"/>
              <a:t>udp</a:t>
            </a:r>
            <a:r>
              <a:rPr lang="en-US" sz="1400" dirty="0"/>
              <a:t>”  confirms the traceroute probes.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/>
              <a:t>The protocol column also indicates a UDP packet.</a:t>
            </a: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425CD8-6BC2-E06E-B0A9-4DFA27C8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146300"/>
            <a:ext cx="8520600" cy="24352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3 TTL proof</a:t>
            </a: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/>
              <a:t>ICMP Time Exceeded indicates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/>
              <a:t>that a packet’s TTL expired before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/>
              <a:t>reaching the destination.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/>
              <a:t>Traceroute sends packets of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/>
              <a:t>Incrementing TTL values, which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/>
              <a:t>Gradually reveals the full path</a:t>
            </a:r>
            <a:r>
              <a:rPr lang="en-US" sz="1600" dirty="0"/>
              <a:t>.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7F3ADE-7A3A-5879-53EE-35D86639A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1152475"/>
            <a:ext cx="5746199" cy="33662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Screenshot 4 HE shows ASN context and neighbors</a:t>
            </a:r>
            <a:endParaRPr sz="2500"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6D539-06D9-DAD8-966A-45BC7EFB9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2475"/>
            <a:ext cx="8520600" cy="3545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arpe fix - logo works! 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158</Words>
  <Application>Microsoft Office PowerPoint</Application>
  <PresentationFormat>On-screen Show (16:9)</PresentationFormat>
  <Paragraphs>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Noto Sans Symbols</vt:lpstr>
      <vt:lpstr>Sharpe fix - logo works! </vt:lpstr>
      <vt:lpstr>Lab Traceroute, DNS steering, and TTL proof with Wireshark</vt:lpstr>
      <vt:lpstr>Screenshot 1 dig output</vt:lpstr>
      <vt:lpstr>Screenshot 2 probe evidence</vt:lpstr>
      <vt:lpstr>Screenshot 3 TTL proof</vt:lpstr>
      <vt:lpstr>Screenshot 4 HE shows ASN context and neighbors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Yusuf,Ibrahim</dc:creator>
  <cp:lastModifiedBy>Yusuf,Ibrahim</cp:lastModifiedBy>
  <cp:revision>12</cp:revision>
  <dcterms:modified xsi:type="dcterms:W3CDTF">2026-03-05T17:33:15Z</dcterms:modified>
</cp:coreProperties>
</file>